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66" r:id="rId2"/>
    <p:sldId id="256" r:id="rId3"/>
    <p:sldId id="268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7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A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74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1076808107319919"/>
          <c:y val="2.3878345335038249E-2"/>
          <c:w val="0.88923191892680087"/>
          <c:h val="0.7266864077887700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2021</c:v>
                </c:pt>
              </c:strCache>
            </c:strRef>
          </c:tx>
          <c:spPr>
            <a:solidFill>
              <a:srgbClr val="BFD7F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Chennai Metro</c:v>
                </c:pt>
                <c:pt idx="1">
                  <c:v>North</c:v>
                </c:pt>
                <c:pt idx="2">
                  <c:v>Central</c:v>
                </c:pt>
                <c:pt idx="3">
                  <c:v>Kongu</c:v>
                </c:pt>
                <c:pt idx="4">
                  <c:v>Delta</c:v>
                </c:pt>
                <c:pt idx="5">
                  <c:v>South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63.4</c:v>
                </c:pt>
                <c:pt idx="1">
                  <c:v>78.099999999999994</c:v>
                </c:pt>
                <c:pt idx="2">
                  <c:v>78.900000000000006</c:v>
                </c:pt>
                <c:pt idx="3">
                  <c:v>73.099999999999994</c:v>
                </c:pt>
                <c:pt idx="4">
                  <c:v>74.900000000000006</c:v>
                </c:pt>
                <c:pt idx="5">
                  <c:v>71.3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DFC-4B69-B0BC-56B48584353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Chennai Metro</c:v>
                </c:pt>
                <c:pt idx="1">
                  <c:v>North</c:v>
                </c:pt>
                <c:pt idx="2">
                  <c:v>Central</c:v>
                </c:pt>
                <c:pt idx="3">
                  <c:v>Kongu</c:v>
                </c:pt>
                <c:pt idx="4">
                  <c:v>Delta</c:v>
                </c:pt>
                <c:pt idx="5">
                  <c:v>South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84.6</c:v>
                </c:pt>
                <c:pt idx="1">
                  <c:v>90</c:v>
                </c:pt>
                <c:pt idx="2">
                  <c:v>89.6</c:v>
                </c:pt>
                <c:pt idx="3">
                  <c:v>88.3</c:v>
                </c:pt>
                <c:pt idx="4">
                  <c:v>84.6</c:v>
                </c:pt>
                <c:pt idx="5">
                  <c:v>82.1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DFC-4B69-B0BC-56B48584353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5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2021</c:v>
                </c:pt>
              </c:strCache>
            </c:strRef>
          </c:tx>
          <c:spPr>
            <a:solidFill>
              <a:srgbClr val="BFD7F5"/>
            </a:solidFill>
            <a:effectLst/>
          </c:spPr>
          <c:invertIfNegative val="0"/>
          <c:dLbls>
            <c:dLbl>
              <c:idx val="1"/>
              <c:layout>
                <c:manualLayout>
                  <c:x val="-6.7204301075270458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9A9B-40FE-9858-DA50251F5516}"/>
                </c:ext>
              </c:extLst>
            </c:dLbl>
            <c:dLbl>
              <c:idx val="4"/>
              <c:layout>
                <c:manualLayout>
                  <c:x val="-8.9605734767025085E-3"/>
                  <c:y val="7.122507122507057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A9B-40FE-9858-DA50251F5516}"/>
                </c:ext>
              </c:extLst>
            </c:dLbl>
            <c:dLbl>
              <c:idx val="8"/>
              <c:layout>
                <c:manualLayout>
                  <c:x val="-4.4802867383512543E-3"/>
                  <c:y val="-3.56111335442044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7889784946236559E-2"/>
                      <c:h val="4.342962738632029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9A9B-40FE-9858-DA50251F5516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TVK</c:v>
                </c:pt>
                <c:pt idx="1">
                  <c:v>DMK</c:v>
                </c:pt>
                <c:pt idx="2">
                  <c:v>AIADMK</c:v>
                </c:pt>
                <c:pt idx="3">
                  <c:v>INC</c:v>
                </c:pt>
                <c:pt idx="4">
                  <c:v>PMK</c:v>
                </c:pt>
                <c:pt idx="5">
                  <c:v>VCK</c:v>
                </c:pt>
                <c:pt idx="6">
                  <c:v>CPI(M)</c:v>
                </c:pt>
                <c:pt idx="7">
                  <c:v>CPI</c:v>
                </c:pt>
                <c:pt idx="8">
                  <c:v>BJP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</c:v>
                </c:pt>
                <c:pt idx="1">
                  <c:v>133</c:v>
                </c:pt>
                <c:pt idx="2">
                  <c:v>66</c:v>
                </c:pt>
                <c:pt idx="3">
                  <c:v>18</c:v>
                </c:pt>
                <c:pt idx="4">
                  <c:v>5</c:v>
                </c:pt>
                <c:pt idx="5">
                  <c:v>4</c:v>
                </c:pt>
                <c:pt idx="6">
                  <c:v>2</c:v>
                </c:pt>
                <c:pt idx="7">
                  <c:v>2</c:v>
                </c:pt>
                <c:pt idx="8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A9B-40FE-9858-DA50251F551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1E3A5F"/>
            </a:solidFill>
            <a:effectLst/>
          </c:spPr>
          <c:invertIfNegative val="0"/>
          <c:dLbls>
            <c:dLbl>
              <c:idx val="4"/>
              <c:layout>
                <c:manualLayout>
                  <c:x val="-4.4802867383512543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9A9B-40FE-9858-DA50251F5516}"/>
                </c:ext>
              </c:extLst>
            </c:dLbl>
            <c:dLbl>
              <c:idx val="8"/>
              <c:layout>
                <c:manualLayout>
                  <c:x val="-2.2401433691756276E-3"/>
                  <c:y val="-7.122507122507132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1.8929211469534048E-2"/>
                      <c:h val="2.918461314130605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9A9B-40FE-9858-DA50251F5516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TVK</c:v>
                </c:pt>
                <c:pt idx="1">
                  <c:v>DMK</c:v>
                </c:pt>
                <c:pt idx="2">
                  <c:v>AIADMK</c:v>
                </c:pt>
                <c:pt idx="3">
                  <c:v>INC</c:v>
                </c:pt>
                <c:pt idx="4">
                  <c:v>PMK</c:v>
                </c:pt>
                <c:pt idx="5">
                  <c:v>VCK</c:v>
                </c:pt>
                <c:pt idx="6">
                  <c:v>CPI(M)</c:v>
                </c:pt>
                <c:pt idx="7">
                  <c:v>CPI</c:v>
                </c:pt>
                <c:pt idx="8">
                  <c:v>BJP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108</c:v>
                </c:pt>
                <c:pt idx="1">
                  <c:v>59</c:v>
                </c:pt>
                <c:pt idx="2">
                  <c:v>47</c:v>
                </c:pt>
                <c:pt idx="3">
                  <c:v>5</c:v>
                </c:pt>
                <c:pt idx="4">
                  <c:v>4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A9B-40FE-9858-DA50251F551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2021</c:v>
                </c:pt>
              </c:strCache>
            </c:strRef>
          </c:tx>
          <c:spPr>
            <a:solidFill>
              <a:srgbClr val="93C5F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Below 35%</c:v>
                </c:pt>
                <c:pt idx="1">
                  <c:v>35–40%</c:v>
                </c:pt>
                <c:pt idx="2">
                  <c:v>40–45%</c:v>
                </c:pt>
                <c:pt idx="3">
                  <c:v>45–50%</c:v>
                </c:pt>
                <c:pt idx="4">
                  <c:v>Above 50%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7</c:v>
                </c:pt>
                <c:pt idx="2">
                  <c:v>53</c:v>
                </c:pt>
                <c:pt idx="3">
                  <c:v>102</c:v>
                </c:pt>
                <c:pt idx="4">
                  <c:v>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60A-4CD9-81F8-A83C86F384B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1D4ED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Below 35%</c:v>
                </c:pt>
                <c:pt idx="1">
                  <c:v>35–40%</c:v>
                </c:pt>
                <c:pt idx="2">
                  <c:v>40–45%</c:v>
                </c:pt>
                <c:pt idx="3">
                  <c:v>45–50%</c:v>
                </c:pt>
                <c:pt idx="4">
                  <c:v>Above 50%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64</c:v>
                </c:pt>
                <c:pt idx="1">
                  <c:v>127</c:v>
                </c:pt>
                <c:pt idx="2">
                  <c:v>26</c:v>
                </c:pt>
                <c:pt idx="3">
                  <c:v>4</c:v>
                </c:pt>
                <c:pt idx="4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60A-4CD9-81F8-A83C86F384B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93794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4ECCF-9406-04AE-66C8-35DC79C1F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855EC6-6DF6-A7D8-B1C6-EACB542E16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30D842-CCEF-2B72-C3CC-68931318FE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083923-65FF-7552-146E-38275064C3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6645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CB992-B5D4-670C-1DB3-81786D0A8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6EA1E5-1A6B-39EF-8405-CDDA344D16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5229C3-058E-15A8-D957-CFEFD9ACCC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785916-E4CE-CF23-8561-8C40A8BB94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4149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D108B-A87C-0032-10C8-BA81B2AD1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0B6DAC-4583-B933-16AC-81201D0EB3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52C57F-31E4-BB08-1657-577EB11FEC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0DEDC8-C166-A067-BEE7-B41F951DDE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9678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FFC963-F4DD-F859-8109-8BC132F78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20">
            <a:extLst>
              <a:ext uri="{FF2B5EF4-FFF2-40B4-BE49-F238E27FC236}">
                <a16:creationId xmlns:a16="http://schemas.microsoft.com/office/drawing/2014/main" id="{ECEC8457-3F67-8BEC-1372-CC722FEE8C73}"/>
              </a:ext>
            </a:extLst>
          </p:cNvPr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Source: Election Commission of India  |  Non-partisan. No causal claims.</a:t>
            </a:r>
            <a:endParaRPr lang="en-US" sz="8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67CDD9A-D904-F4CC-CA6D-879A56CF466B}"/>
              </a:ext>
            </a:extLst>
          </p:cNvPr>
          <p:cNvSpPr txBox="1"/>
          <p:nvPr/>
        </p:nvSpPr>
        <p:spPr>
          <a:xfrm>
            <a:off x="267513" y="572313"/>
            <a:ext cx="8820043" cy="32316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u="sng" dirty="0"/>
              <a:t>Disclaimer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Gabriola" panose="04040605051002020D02" pitchFamily="82" charset="0"/>
              </a:rPr>
              <a:t>This video is based entirely on publicly available data from the 2021 and 2026 Tamil Nadu election datasets.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Gabriola" panose="04040605051002020D02" pitchFamily="82" charset="0"/>
              </a:rPr>
              <a:t>Any reference to political parties, individuals, or communities is purely for analytical purposes. I do not support </a:t>
            </a:r>
          </a:p>
          <a:p>
            <a:pPr algn="just"/>
            <a:r>
              <a:rPr lang="en-US" dirty="0">
                <a:latin typeface="Gabriola" panose="04040605051002020D02" pitchFamily="82" charset="0"/>
              </a:rPr>
              <a:t>       or oppose any party, religion, caste, or individual.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Gabriola" panose="04040605051002020D02" pitchFamily="82" charset="0"/>
              </a:rPr>
              <a:t>To adhere to the mentioned guidelines, this presentation contains no pictures of political leaders or party symbols.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Gabriola" panose="04040605051002020D02" pitchFamily="82" charset="0"/>
              </a:rPr>
              <a:t>Furthermore, this analysis relies solely on objective data. It does not attempt to explain why any party won or lost, </a:t>
            </a:r>
          </a:p>
          <a:p>
            <a:pPr algn="just"/>
            <a:r>
              <a:rPr lang="en-US" dirty="0">
                <a:latin typeface="Gabriola" panose="04040605051002020D02" pitchFamily="82" charset="0"/>
              </a:rPr>
              <a:t>       nor does it make any predictions about the future. This project has been created with the full understanding that </a:t>
            </a:r>
          </a:p>
          <a:p>
            <a:pPr algn="just"/>
            <a:r>
              <a:rPr lang="en-US" dirty="0">
                <a:latin typeface="Gabriola" panose="04040605051002020D02" pitchFamily="82" charset="0"/>
              </a:rPr>
              <a:t>       breaking the strict neutrality rule will result in immediate disqualification, regardless of the overall quality of the work.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Gabriola" panose="04040605051002020D02" pitchFamily="82" charset="0"/>
              </a:rPr>
              <a:t>If anything in this presentation has come across as unintentionally incorrect or insensitive, I sincerely apologize —</a:t>
            </a:r>
          </a:p>
          <a:p>
            <a:pPr algn="just"/>
            <a:r>
              <a:rPr lang="en-US" dirty="0">
                <a:latin typeface="Gabriola" panose="04040605051002020D02" pitchFamily="82" charset="0"/>
              </a:rPr>
              <a:t>       this is an amateur data project made with good intent. </a:t>
            </a:r>
          </a:p>
          <a:p>
            <a:endParaRPr lang="en-US" sz="1400" dirty="0"/>
          </a:p>
          <a:p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5973526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2563EB">
              <a:alpha val="15000"/>
            </a:srgbClr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498080" y="-457200"/>
            <a:ext cx="2743200" cy="2743200"/>
          </a:xfrm>
          <a:prstGeom prst="ellipse">
            <a:avLst/>
          </a:prstGeom>
          <a:solidFill>
            <a:srgbClr val="2563EB">
              <a:alpha val="2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94A3B8"/>
                </a:solidFill>
              </a:rPr>
              <a:t>ATLIQ MEDIA  |  DATA-ONLY ANALYSIS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77724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Decoding the 2026</a:t>
            </a:r>
            <a:endParaRPr lang="en-US" sz="44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Tamil Nadu</a:t>
            </a:r>
            <a:endParaRPr lang="en-US" sz="44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 Election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3280307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94A3B8"/>
                </a:solidFill>
              </a:rPr>
              <a:t>A fact-based analysis for AtliQ's one-hour TV show</a:t>
            </a:r>
            <a:endParaRPr lang="en-US" sz="12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94A3B8"/>
                </a:solidFill>
              </a:rPr>
              <a:t>Source: Election Commission of India  |  Non-partisan  |  ECI data only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4229100"/>
            <a:ext cx="2560320" cy="502920"/>
          </a:xfrm>
          <a:prstGeom prst="roundRect">
            <a:avLst>
              <a:gd name="adj" fmla="val 14545"/>
            </a:avLst>
          </a:prstGeom>
          <a:solidFill>
            <a:srgbClr val="2563EB">
              <a:alpha val="8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8" name="Text 6"/>
          <p:cNvSpPr/>
          <p:nvPr/>
        </p:nvSpPr>
        <p:spPr>
          <a:xfrm>
            <a:off x="548640" y="42291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400" b="1" dirty="0">
                <a:solidFill>
                  <a:schemeClr val="bg1"/>
                </a:solidFill>
              </a:rPr>
              <a:t>               The Turnout story</a:t>
            </a:r>
          </a:p>
        </p:txBody>
      </p:sp>
      <p:sp>
        <p:nvSpPr>
          <p:cNvPr id="9" name="Shape 7"/>
          <p:cNvSpPr/>
          <p:nvPr/>
        </p:nvSpPr>
        <p:spPr>
          <a:xfrm>
            <a:off x="3383280" y="4229100"/>
            <a:ext cx="2560320" cy="502920"/>
          </a:xfrm>
          <a:prstGeom prst="roundRect">
            <a:avLst>
              <a:gd name="adj" fmla="val 14545"/>
            </a:avLst>
          </a:prstGeom>
          <a:solidFill>
            <a:srgbClr val="16A34A">
              <a:alpha val="8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0" name="Text 8"/>
          <p:cNvSpPr/>
          <p:nvPr/>
        </p:nvSpPr>
        <p:spPr>
          <a:xfrm>
            <a:off x="3383280" y="42291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b="1" dirty="0"/>
              <a:t>               </a:t>
            </a:r>
            <a:r>
              <a:rPr lang="en-IN" sz="1400" b="1" dirty="0">
                <a:solidFill>
                  <a:schemeClr val="bg1"/>
                </a:solidFill>
              </a:rPr>
              <a:t>The Flip story</a:t>
            </a:r>
          </a:p>
        </p:txBody>
      </p:sp>
      <p:sp>
        <p:nvSpPr>
          <p:cNvPr id="11" name="Shape 9"/>
          <p:cNvSpPr/>
          <p:nvPr/>
        </p:nvSpPr>
        <p:spPr>
          <a:xfrm>
            <a:off x="6217920" y="4229100"/>
            <a:ext cx="2560320" cy="502920"/>
          </a:xfrm>
          <a:prstGeom prst="roundRect">
            <a:avLst>
              <a:gd name="adj" fmla="val 14545"/>
            </a:avLst>
          </a:prstGeom>
          <a:solidFill>
            <a:srgbClr val="EA580C">
              <a:alpha val="8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217920" y="42291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chemeClr val="bg1"/>
                </a:solidFill>
              </a:rPr>
              <a:t>        The margin of victory story</a:t>
            </a:r>
          </a:p>
        </p:txBody>
      </p:sp>
      <p:sp>
        <p:nvSpPr>
          <p:cNvPr id="13" name="Text 11"/>
          <p:cNvSpPr/>
          <p:nvPr/>
        </p:nvSpPr>
        <p:spPr>
          <a:xfrm>
            <a:off x="548640" y="48006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</a:rPr>
              <a:t>234 constituencies  |  Tamil Nadu  |  May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EB88A-6EFD-CB18-A56E-EF7D5C289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2E311AC-4EF2-AD6C-6FB4-CBF65C6DD4E7}"/>
              </a:ext>
            </a:extLst>
          </p:cNvPr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3A5F"/>
                </a:solidFill>
              </a:rPr>
              <a:t>Tools used: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0A2A790-8778-4441-BFEC-C199FAB728FE}"/>
              </a:ext>
            </a:extLst>
          </p:cNvPr>
          <p:cNvSpPr/>
          <p:nvPr/>
        </p:nvSpPr>
        <p:spPr>
          <a:xfrm>
            <a:off x="548640" y="777240"/>
            <a:ext cx="3931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A03B01D0-817D-0600-7C38-B4F4B48B01FE}"/>
              </a:ext>
            </a:extLst>
          </p:cNvPr>
          <p:cNvSpPr/>
          <p:nvPr/>
        </p:nvSpPr>
        <p:spPr>
          <a:xfrm>
            <a:off x="548640" y="777240"/>
            <a:ext cx="393192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C2E4842-19D3-C1DB-366D-8495F7720544}"/>
              </a:ext>
            </a:extLst>
          </p:cNvPr>
          <p:cNvSpPr/>
          <p:nvPr/>
        </p:nvSpPr>
        <p:spPr>
          <a:xfrm>
            <a:off x="640080" y="822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FFFFFF"/>
                </a:solidFill>
              </a:rPr>
              <a:t>List of Tools:</a:t>
            </a:r>
            <a:endParaRPr lang="en-US" sz="11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C8B0072-29F0-4A31-A800-1FE627AE07EE}"/>
              </a:ext>
            </a:extLst>
          </p:cNvPr>
          <p:cNvSpPr/>
          <p:nvPr/>
        </p:nvSpPr>
        <p:spPr>
          <a:xfrm>
            <a:off x="685800" y="1261872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Google Colab – For Analysis and Visualization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Streamlit – Dashboard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Powerpoint –  Slide deck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AI tools -  Gemini and Claude</a:t>
            </a:r>
          </a:p>
        </p:txBody>
      </p:sp>
    </p:spTree>
    <p:extLst>
      <p:ext uri="{BB962C8B-B14F-4D97-AF65-F5344CB8AC3E}">
        <p14:creationId xmlns:p14="http://schemas.microsoft.com/office/powerpoint/2010/main" val="24785907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Findings. One Story.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</a:rPr>
              <a:t>Record participation → historic churn → fragmented results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97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697480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94360" y="160020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563EB"/>
                </a:solidFill>
              </a:rPr>
              <a:t>86.2%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94360" y="237744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64748B"/>
                </a:solidFill>
              </a:rPr>
              <a:t>Avg. Turnout 2026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</a:rPr>
              <a:t>Tamil Nadu's highest ever recorded turnout — up 12.8 percentage points from 73.4% in 2021.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452628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2563EB"/>
                </a:solidFill>
              </a:rPr>
              <a:t>Chapter 1: The Turnout Record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91840" y="1417320"/>
            <a:ext cx="2697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291840" y="1417320"/>
            <a:ext cx="2697480" cy="109728"/>
          </a:xfrm>
          <a:prstGeom prst="rect">
            <a:avLst/>
          </a:prstGeom>
          <a:solidFill>
            <a:srgbClr val="16A34A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429000" y="160020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6A34A"/>
                </a:solidFill>
              </a:rPr>
              <a:t>163 / 234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429000" y="237744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64748B"/>
                </a:solidFill>
              </a:rPr>
              <a:t>Seats Changed Hands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74720" y="2743200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</a:rPr>
              <a:t>7 in every 10 constituencies returned a different winning party compared to 2021.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29000" y="452628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6A34A"/>
                </a:solidFill>
              </a:rPr>
              <a:t>Chapter 2: The Seat Flip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26480" y="1417320"/>
            <a:ext cx="2697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126480" y="1417320"/>
            <a:ext cx="2697480" cy="109728"/>
          </a:xfrm>
          <a:prstGeom prst="rect">
            <a:avLst/>
          </a:prstGeom>
          <a:solidFill>
            <a:srgbClr val="EA580C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263640" y="160020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A580C"/>
                </a:solidFill>
              </a:rPr>
              <a:t>48% → 37%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263640" y="237744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64748B"/>
                </a:solidFill>
              </a:rPr>
              <a:t>Median Win Vote Share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309360" y="2743200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</a:rPr>
              <a:t>Winners needed less than ever — 64 seats were won with under 35% of valid votes.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63640" y="452628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EA580C"/>
                </a:solidFill>
              </a:rPr>
              <a:t>Chapter 3: The Margin Shift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Source: Election Commission of India  |  Non-partisan. No causal claims.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182880"/>
            <a:ext cx="4114800" cy="4114800"/>
          </a:xfrm>
          <a:prstGeom prst="ellipse">
            <a:avLst/>
          </a:prstGeom>
          <a:solidFill>
            <a:srgbClr val="2563EB">
              <a:alpha val="1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2563EB"/>
                </a:solidFill>
              </a:rPr>
              <a:t>CHAPTER1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6858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Turnout</a:t>
            </a:r>
            <a:endParaRPr lang="en-US" sz="5200" dirty="0"/>
          </a:p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2606040" cy="1463040"/>
          </a:xfrm>
          <a:prstGeom prst="rect">
            <a:avLst/>
          </a:prstGeom>
          <a:solidFill>
            <a:srgbClr val="1E3A5F">
              <a:alpha val="80000"/>
            </a:srgbClr>
          </a:solidFill>
          <a:ln w="12700">
            <a:solidFill>
              <a:srgbClr val="2563EB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64008" cy="1463040"/>
          </a:xfrm>
          <a:prstGeom prst="rect">
            <a:avLst/>
          </a:prstGeom>
          <a:solidFill>
            <a:srgbClr val="2563EB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</a:rPr>
              <a:t>86.2%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36576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</a:rPr>
              <a:t>Turnout 2026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2834640"/>
            <a:ext cx="2606040" cy="1463040"/>
          </a:xfrm>
          <a:prstGeom prst="rect">
            <a:avLst/>
          </a:prstGeom>
          <a:solidFill>
            <a:srgbClr val="1E3A5F">
              <a:alpha val="80000"/>
            </a:srgbClr>
          </a:solidFill>
          <a:ln w="12700">
            <a:solidFill>
              <a:srgbClr val="2563EB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383280" y="2834640"/>
            <a:ext cx="64008" cy="1463040"/>
          </a:xfrm>
          <a:prstGeom prst="rect">
            <a:avLst/>
          </a:prstGeom>
          <a:solidFill>
            <a:srgbClr val="38BDF8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566160" y="29260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</a:rPr>
              <a:t>+12.8pp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566160" y="36576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</a:rPr>
              <a:t>vs 2021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25941" y="2834640"/>
            <a:ext cx="2606040" cy="1463040"/>
          </a:xfrm>
          <a:prstGeom prst="rect">
            <a:avLst/>
          </a:prstGeom>
          <a:solidFill>
            <a:srgbClr val="1E3A5F">
              <a:alpha val="80000"/>
            </a:srgbClr>
          </a:solidFill>
          <a:ln w="12700">
            <a:solidFill>
              <a:srgbClr val="2563EB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217920" y="2834640"/>
            <a:ext cx="64008" cy="1463040"/>
          </a:xfrm>
          <a:prstGeom prst="rect">
            <a:avLst/>
          </a:prstGeom>
          <a:solidFill>
            <a:srgbClr val="7DD3FC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400800" y="29260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</a:rPr>
              <a:t>146 / 234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400800" y="36576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</a:rPr>
              <a:t>Seats above 85%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94A3B8"/>
                </a:solidFill>
              </a:rPr>
              <a:t>Only 5 of 234 constituencies exceeded 85% turnout in 2021. In 2026, 146 did.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3A5F"/>
                </a:solidFill>
              </a:rPr>
              <a:t>Where Did Turnout Rise Most?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</a:rPr>
              <a:t>Average turnout by region — 2021 vs 2026</a:t>
            </a:r>
            <a:endParaRPr lang="en-US" sz="12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2451204793"/>
              </p:ext>
            </p:extLst>
          </p:nvPr>
        </p:nvGraphicFramePr>
        <p:xfrm>
          <a:off x="457200" y="1097280"/>
          <a:ext cx="548640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400800" y="1097280"/>
            <a:ext cx="2560320" cy="14630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6400800" y="1097280"/>
            <a:ext cx="64008" cy="1463040"/>
          </a:xfrm>
          <a:prstGeom prst="rect">
            <a:avLst/>
          </a:prstGeom>
          <a:solidFill>
            <a:srgbClr val="2563EB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6537960" y="11887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563EB"/>
                </a:solidFill>
              </a:rPr>
              <a:t>+21.2 pp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6537960" y="178308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3A5F"/>
                </a:solidFill>
              </a:rPr>
              <a:t>Chennai Metro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E3A5F"/>
                </a:solidFill>
              </a:rPr>
              <a:t>largest regional jump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400800" y="2743200"/>
            <a:ext cx="2560320" cy="146304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6400800" y="2743200"/>
            <a:ext cx="64008" cy="1463040"/>
          </a:xfrm>
          <a:prstGeom prst="rect">
            <a:avLst/>
          </a:prstGeom>
          <a:solidFill>
            <a:srgbClr val="16A34A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6537960" y="28346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A34A"/>
                </a:solidFill>
              </a:rPr>
              <a:t>17 of 20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6537960" y="342900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3A5F"/>
                </a:solidFill>
              </a:rPr>
              <a:t>Top-jump constituencies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E3A5F"/>
                </a:solidFill>
              </a:rPr>
              <a:t>are in Chennai Metro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E3A5F"/>
                </a:solidFill>
              </a:rPr>
              <a:t>or Kongu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</a:rPr>
              <a:t>Source: elections.tn.gov.in (April 2026 electoral roll) + ECI results portal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182880"/>
            <a:ext cx="4114800" cy="4114800"/>
          </a:xfrm>
          <a:prstGeom prst="ellipse">
            <a:avLst/>
          </a:prstGeom>
          <a:solidFill>
            <a:srgbClr val="16A34A">
              <a:alpha val="1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16A34A"/>
                </a:solidFill>
              </a:rPr>
              <a:t>CHAPTER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6858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Seat</a:t>
            </a:r>
            <a:endParaRPr lang="en-US" sz="5200" dirty="0"/>
          </a:p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2606040" cy="1463040"/>
          </a:xfrm>
          <a:prstGeom prst="rect">
            <a:avLst/>
          </a:prstGeom>
          <a:solidFill>
            <a:srgbClr val="1E3A5F">
              <a:alpha val="80000"/>
            </a:srgbClr>
          </a:solidFill>
          <a:ln w="12700">
            <a:solidFill>
              <a:srgbClr val="16A34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64008" cy="1463040"/>
          </a:xfrm>
          <a:prstGeom prst="rect">
            <a:avLst/>
          </a:prstGeom>
          <a:solidFill>
            <a:srgbClr val="16A34A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</a:rPr>
              <a:t>163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31520" y="36576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</a:rPr>
              <a:t>Seats changed hands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2834640"/>
            <a:ext cx="2606040" cy="1463040"/>
          </a:xfrm>
          <a:prstGeom prst="rect">
            <a:avLst/>
          </a:prstGeom>
          <a:solidFill>
            <a:srgbClr val="1E3A5F">
              <a:alpha val="80000"/>
            </a:srgbClr>
          </a:solidFill>
          <a:ln w="12700">
            <a:solidFill>
              <a:srgbClr val="16A34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383280" y="2834640"/>
            <a:ext cx="64008" cy="1463040"/>
          </a:xfrm>
          <a:prstGeom prst="rect">
            <a:avLst/>
          </a:prstGeom>
          <a:solidFill>
            <a:srgbClr val="4ADE8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566160" y="29260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</a:rPr>
              <a:t>70%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566160" y="36576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</a:rPr>
              <a:t>Of all 234 seats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2834640"/>
            <a:ext cx="2606040" cy="1463040"/>
          </a:xfrm>
          <a:prstGeom prst="rect">
            <a:avLst/>
          </a:prstGeom>
          <a:solidFill>
            <a:srgbClr val="1E3A5F">
              <a:alpha val="80000"/>
            </a:srgbClr>
          </a:solidFill>
          <a:ln w="12700">
            <a:solidFill>
              <a:srgbClr val="16A34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217920" y="2834640"/>
            <a:ext cx="64008" cy="1463040"/>
          </a:xfrm>
          <a:prstGeom prst="rect">
            <a:avLst/>
          </a:prstGeom>
          <a:solidFill>
            <a:srgbClr val="86EFAC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400800" y="29260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</a:rPr>
              <a:t>71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400800" y="36576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</a:rPr>
              <a:t>Seats held (30%)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94A3B8"/>
                </a:solidFill>
              </a:rPr>
              <a:t>The largest single flow: 65 seats moved from one party to another — the dominant pattern in this data.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3A5F"/>
                </a:solidFill>
              </a:rPr>
              <a:t>How Did Seat Counts Change?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</a:rPr>
              <a:t>Seats won per party — 2021 vs 2026  |  Sankey diagram available in the interactive dashboard</a:t>
            </a:r>
            <a:endParaRPr lang="en-US" sz="12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552063900"/>
              </p:ext>
            </p:extLst>
          </p:nvPr>
        </p:nvGraphicFramePr>
        <p:xfrm>
          <a:off x="457200" y="1097280"/>
          <a:ext cx="566928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097280"/>
          <a:ext cx="2560320" cy="173736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Held by same party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Largest single flow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seats changed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constituencies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</a:rPr>
              <a:t>Note: Party names as recorded by ECI. Alliance groupings not reflected.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182880"/>
            <a:ext cx="4114800" cy="4114800"/>
          </a:xfrm>
          <a:prstGeom prst="ellipse">
            <a:avLst/>
          </a:prstGeom>
          <a:solidFill>
            <a:srgbClr val="EA580C">
              <a:alpha val="1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EA580C"/>
                </a:solidFill>
              </a:rPr>
              <a:t>CHAPTER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6858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Margin</a:t>
            </a:r>
            <a:endParaRPr lang="en-US" sz="5200" dirty="0"/>
          </a:p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2606040" cy="1463040"/>
          </a:xfrm>
          <a:prstGeom prst="rect">
            <a:avLst/>
          </a:prstGeom>
          <a:solidFill>
            <a:srgbClr val="1E3A5F">
              <a:alpha val="80000"/>
            </a:srgbClr>
          </a:solidFill>
          <a:ln w="12700">
            <a:solidFill>
              <a:srgbClr val="EA580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64008" cy="1463040"/>
          </a:xfrm>
          <a:prstGeom prst="rect">
            <a:avLst/>
          </a:prstGeom>
          <a:solidFill>
            <a:srgbClr val="EA580C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48% → 37%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" y="36576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</a:rPr>
              <a:t>Median win share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2834640"/>
            <a:ext cx="2606040" cy="1463040"/>
          </a:xfrm>
          <a:prstGeom prst="rect">
            <a:avLst/>
          </a:prstGeom>
          <a:solidFill>
            <a:srgbClr val="1E3A5F">
              <a:alpha val="80000"/>
            </a:srgbClr>
          </a:solidFill>
          <a:ln w="12700">
            <a:solidFill>
              <a:srgbClr val="EA580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383280" y="2834640"/>
            <a:ext cx="64008" cy="1463040"/>
          </a:xfrm>
          <a:prstGeom prst="rect">
            <a:avLst/>
          </a:prstGeom>
          <a:solidFill>
            <a:srgbClr val="FB923C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566160" y="29260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64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566160" y="36576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</a:rPr>
              <a:t>Seats won below 35%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2834640"/>
            <a:ext cx="2606040" cy="1463040"/>
          </a:xfrm>
          <a:prstGeom prst="rect">
            <a:avLst/>
          </a:prstGeom>
          <a:solidFill>
            <a:srgbClr val="1E3A5F">
              <a:alpha val="80000"/>
            </a:srgbClr>
          </a:solidFill>
          <a:ln w="12700">
            <a:solidFill>
              <a:srgbClr val="EA580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217920" y="2834640"/>
            <a:ext cx="64008" cy="1463040"/>
          </a:xfrm>
          <a:prstGeom prst="rect">
            <a:avLst/>
          </a:prstGeom>
          <a:solidFill>
            <a:srgbClr val="FED7AA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400800" y="29260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70 → 13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400800" y="36576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</a:rPr>
              <a:t>Seats won above 50%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94A3B8"/>
                </a:solidFill>
              </a:rPr>
              <a:t>Despite record voter participation, winners secured a smaller share of valid votes than in 2021.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3A5F"/>
                </a:solidFill>
              </a:rPr>
              <a:t>Winners Won With Less — Not More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</a:rPr>
              <a:t>Distribution of winning vote share — 2021 vs 2026</a:t>
            </a:r>
            <a:endParaRPr lang="en-US" sz="1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097280"/>
          <a:ext cx="548640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097280"/>
          <a:ext cx="2651760" cy="2432304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margin (votes)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22,871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16,784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vote share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Winners above 50%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Winners below 35%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Highest share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Lowest share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</a:rPr>
              <a:t>The shift in distribution from 45–50% band (2021) to 35–40% band (2026) is the defining visual.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94A3B8"/>
                </a:solidFill>
              </a:rPr>
              <a:t>EDITORIAL RECOMMENDATION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795528"/>
            <a:ext cx="8412480" cy="960120"/>
          </a:xfrm>
          <a:prstGeom prst="rect">
            <a:avLst/>
          </a:prstGeom>
          <a:solidFill>
            <a:srgbClr val="2563EB">
              <a:alpha val="10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48640" y="795528"/>
            <a:ext cx="64008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563EB"/>
                </a:solidFill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25880" y="86868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Open with the Turnout Record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25880" y="1179576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</a:rPr>
              <a:t>Lead with 86.2%. One number. No context needed. Every viewer understands participation — it sets the stakes without any political framing.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1938528"/>
            <a:ext cx="8412480" cy="960120"/>
          </a:xfrm>
          <a:prstGeom prst="rect">
            <a:avLst/>
          </a:prstGeom>
          <a:solidFill>
            <a:srgbClr val="16A34A">
              <a:alpha val="10000"/>
            </a:srgbClr>
          </a:solidFill>
          <a:ln w="12700">
            <a:solidFill>
              <a:srgbClr val="16A34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548640" y="1938528"/>
            <a:ext cx="64008" cy="960120"/>
          </a:xfrm>
          <a:prstGeom prst="rect">
            <a:avLst/>
          </a:prstGeom>
          <a:solidFill>
            <a:srgbClr val="16A34A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31520" y="198424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6A34A"/>
                </a:solidFill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325880" y="201168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Centrepiece: The Seat Flow Sankey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25880" y="2322576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</a:rPr>
              <a:t>Dedicate 20 minutes to the Sankey. Walk through constituency-by-constituency flows. Highest visual impact. Stays purely factual. Sparks discussion without editorialising.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56661" y="3081528"/>
            <a:ext cx="8412480" cy="960120"/>
          </a:xfrm>
          <a:prstGeom prst="rect">
            <a:avLst/>
          </a:prstGeom>
          <a:solidFill>
            <a:srgbClr val="EA580C">
              <a:alpha val="10000"/>
            </a:srgbClr>
          </a:solidFill>
          <a:ln w="12700">
            <a:solidFill>
              <a:srgbClr val="EA580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548640" y="3081528"/>
            <a:ext cx="64008" cy="960120"/>
          </a:xfrm>
          <a:prstGeom prst="rect">
            <a:avLst/>
          </a:prstGeom>
          <a:solidFill>
            <a:srgbClr val="EA580C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31520" y="312724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EA580C"/>
                </a:solidFill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325880" y="315468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Close with the Margin Story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3313577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</a:rPr>
              <a:t>End with the 48% → 37% shift. Counter-intuitive (more voters, but winners won with less share).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484632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All graphics available in the Streamlit dashboard  |  GitHub repo with reproducible analysis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3A5F"/>
                </a:solidFill>
              </a:rPr>
              <a:t>Data Sources &amp; Limitations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</a:rPr>
              <a:t>What this analysis can and cannot tell you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3931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393192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FFFFFF"/>
                </a:solidFill>
              </a:rPr>
              <a:t>DATA SOURCES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627632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</a:rPr>
              <a:t>ECI Results Portal (2026)
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</a:rPr>
              <a:t>results.eci.gov.in/ResultAcGenMay2026
</a:t>
            </a:r>
            <a:endParaRPr lang="en-US" sz="1000" dirty="0"/>
          </a:p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</a:rPr>
              <a:t>Chief Electoral Officer, Tamil Nadu
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</a:rPr>
              <a:t>elections.tn.gov.in — April 2026 electoral roll
</a:t>
            </a:r>
            <a:endParaRPr lang="en-US" sz="1000" dirty="0"/>
          </a:p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</a:rPr>
              <a:t>Codebasics Starter Pack
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</a:rPr>
              <a:t>tn_2021_results.csv, tn_2026_results.csv,
constituency_master.csv
</a:t>
            </a:r>
            <a:endParaRPr lang="en-US" sz="1000" dirty="0"/>
          </a:p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</a:rPr>
              <a:t>ECI Statistical Reports
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</a:rPr>
              <a:t>eci.gov.in/statistical-reports (2021 cross-check)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1143000"/>
            <a:ext cx="42976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663440" y="1143000"/>
            <a:ext cx="429768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54880" y="11887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FFFFFF"/>
                </a:solidFill>
              </a:rPr>
              <a:t>LIMITATIONS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00600" y="169164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3A5F"/>
                </a:solidFill>
              </a:rPr>
              <a:t>Turnout denominator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00600" y="192024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2026 electors from April 2026 roll. ECI Form-20 final audited data not yet released. Minor variations possible.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00600" y="2441448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3A5F"/>
                </a:solidFill>
              </a:rPr>
              <a:t>No alliance-level data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00600" y="2670048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Parties analysed individually. Vote transfer between allied parties cannot be determined from ECI candidate-level data.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00600" y="3191256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3A5F"/>
                </a:solidFill>
              </a:rPr>
              <a:t>No causal claims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00600" y="3419856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This analysis describes what the data shows. It does not explain why turnout rose, why seats changed, or why margins shifted.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00600" y="3941064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3A5F"/>
                </a:solidFill>
              </a:rPr>
              <a:t>2021 electors back-calculated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00600" y="4169664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Derived from original turnout percentage. May carry rounding from the ECI source figure.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4754880"/>
            <a:ext cx="8503920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48640" y="4782312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2400E"/>
                </a:solidFill>
              </a:rPr>
              <a:t>Disclaimer: This is a non-partisan data exercise. Codebasics does not endorse, criticise, or take any political position on parties, leaders, or outcomes.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993F17-9497-5BEA-4EBB-88730F33A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F5EDE46F-1743-3D9B-D475-FAE5302E40C8}"/>
              </a:ext>
            </a:extLst>
          </p:cNvPr>
          <p:cNvSpPr txBox="1"/>
          <p:nvPr/>
        </p:nvSpPr>
        <p:spPr>
          <a:xfrm>
            <a:off x="2153677" y="2110085"/>
            <a:ext cx="483664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>
                <a:latin typeface="Arial Black" panose="020B0A04020102020204" pitchFamily="34" charset="0"/>
              </a:rPr>
              <a:t>THANK YOU</a:t>
            </a:r>
            <a:endParaRPr lang="en-IN" sz="5400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90960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550</TotalTime>
  <Words>1020</Words>
  <Application>Microsoft Office PowerPoint</Application>
  <PresentationFormat>On-screen Show (16:9)</PresentationFormat>
  <Paragraphs>165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Arial Black</vt:lpstr>
      <vt:lpstr>Calibri</vt:lpstr>
      <vt:lpstr>Gabriola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Decoding the 2026 Tamil Nadu Assembly Election</dc:title>
  <dc:subject>PptxGenJS Presentation</dc:subject>
  <dc:creator>AtliQ Media Data Analysis</dc:creator>
  <cp:lastModifiedBy>Eniyan Dhandapani</cp:lastModifiedBy>
  <cp:revision>4</cp:revision>
  <dcterms:created xsi:type="dcterms:W3CDTF">2026-05-27T01:36:13Z</dcterms:created>
  <dcterms:modified xsi:type="dcterms:W3CDTF">2026-05-28T04:14:22Z</dcterms:modified>
</cp:coreProperties>
</file>